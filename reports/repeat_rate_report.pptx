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39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5120640"/>
            <a:ext cx="1554480" cy="1554480"/>
          </a:xfrm>
          <a:prstGeom prst="ellipse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TRUEAIHUB · การวิเคราะห์ลูกค้า 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ลูกค้าซื้อแล้ว...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กลับมาซื้อซ้ำแค่ไหน?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เจาะพฤติกรรมการซื้อซ้ำและการใช้ token — ใครซื้อต่อ ใครหายไป และเพราะอะไร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8EA3D8"/>
                </a:solidFill>
                <a:latin typeface="Leelawadee UI"/>
                <a:cs typeface="Leelawadee UI"/>
                <a:ea typeface="Leelawadee UI"/>
              </a:rPr>
              <a:t>ข้อมูล 1 ม.ค. – 5 ก.ค. 2026  ·  ระบบรายงานอัตโนมัติ (BigQuery)  ·  จัดทำ 6 ก.ค.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สรุปใน 30 วินาที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81328"/>
            <a:ext cx="5166360" cy="233172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173736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356 คน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56032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ลูกค้าที่ควักเงินซื้อจริง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จากผู้ใช้ทั้งหมด 5,296 คน — คิดเป็น 7%  ที่เหลือส่วนใหญ่หยุดอยู่แค่ทดลองฟรี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81328"/>
            <a:ext cx="5166360" cy="233172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2.25%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6032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อัตราการซื้อซ้ำ (8 คนจาก 356)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แต่ถ้านับเฉพาะลูกค้าที่ซื้อมานานพอจะตัดสินใจได้ (35 วันขึ้นไป) จะอยู่ที่ 3.37%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41648"/>
            <a:ext cx="5166360" cy="233172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429768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9 ใน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512064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ของคนที่เลิก ยังใช้ token ไม่ถึง 1 ใน 3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ลูกค้าไม่ได้หนีเพราะของหมด — แต่หายไปทั้งที่ยังเหลือเพียบ ปัญหาคือ “ยังไม่ได้ใช้จริง”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41648"/>
            <a:ext cx="5166360" cy="233172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29768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2.3 เท่า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12064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ลูกค้าซื้อซ้ำใช้เงินมากกว่า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เฉลี่ย ฿1,303 ต่อคน เทียบกับซื้อครั้งเดียว ฿561 — ทุกคนที่ดึงให้ซื้อซ้ำได้ มีค่ามาก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เส้นทางของลูกค้า: ทดลองฟรี → ซื้อ → ซื้อซ้ำ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ผู้ใช้ที่เริ่มใช้งาน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27632"/>
            <a:ext cx="6537960" cy="530352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627632"/>
            <a:ext cx="6537960" cy="53035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194560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5,296 คน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60903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เคยได้ทดลองฟรี (Free Trial)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596896"/>
            <a:ext cx="6537960" cy="530352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96896"/>
            <a:ext cx="6191448" cy="53035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163824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5,015 คน  (95%)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0168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ควักเงินซื้อแพ็คเกจ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566160"/>
            <a:ext cx="6537960" cy="530352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566160"/>
            <a:ext cx="438043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133087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356 คน  (7%)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กลับมาซื้อซ้ำ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535424"/>
            <a:ext cx="6537960" cy="530352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6160" y="4535424"/>
            <a:ext cx="128016" cy="530352"/>
          </a:xfrm>
          <a:prstGeom prst="roundRect">
            <a:avLst>
              <a:gd name="adj" fmla="val 50000"/>
            </a:avLst>
          </a:prstGeom>
          <a:solidFill>
            <a:srgbClr val="2E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5102352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8 คน  (2.25% ของคนซื้อ)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14416"/>
            <a:ext cx="10927080" cy="841248"/>
          </a:xfrm>
          <a:prstGeom prst="roundRect">
            <a:avLst>
              <a:gd name="adj" fmla="val 7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7900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ในบรรดาคนซื้อ 356 คน — มี 75 คนที่มาจากทดลองฟรีก่อน (คิดเป็น 1.5% ของคน trial ทั้งหมด) ที่เหลือซื้อโดยไม่เห็นประวัติ trial ในช่วงข้อมูล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2.25% ฟังดูน้อย — แต่ครึ่งหนึ่งของลูกค้ายังไม่ถึงเวลาตัดสินใจ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029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ทำไมต้องระวังตัวเลขนี้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ลูกค้า 178 คน (ครึ่งหนึ่ง) เพิ่งซื้อครั้งแรกมาไม่ถึง 35 วัน — แพ็คเกจยังไม่หมดอายุ จึงยังไม่ถึงจังหวะต้องเลือกว่า “จะไปต่อหรือพอแค่นี้”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การเอาคนกลุ่มนี้มารวมในตัวหาร ทำให้อัตราซื้อซ้ำดูต่ำกว่าความจริง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ตัวเลขที่แนะนำให้ใช้ติดตามผลรายเดือน คือกลุ่มที่ “แก่พอ” แล้วเท่านั้น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709160"/>
            <a:ext cx="5029200" cy="1600200"/>
          </a:xfrm>
          <a:prstGeom prst="roundRect">
            <a:avLst>
              <a:gd name="adj" fmla="val 7000"/>
            </a:avLst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19472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1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ตัวเลขที่แฟร์กว่า:  3.37%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นับเฉพาะลูกค้าที่ซื้อครั้งแรกเกิน 35 วัน (6 จาก 178 คน) — รุ่นเก่าสุด(เม.ย.) ทำได้ 5.6%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อัตราซื้อซ้ำ แยกตามเดือนที่ซื้อครั้งแรก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3911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เม.ย. 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0116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2011680"/>
            <a:ext cx="264566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20391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5.6%  (54 คน)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4323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ครบเวลาแล้วทั้งรุ่น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935224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พ.ค. 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90779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0" y="290779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293522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2.4%  (124 คน)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32841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ครบเวลาแล้วทั้งรุ่น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831336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มิ.ย. 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80390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3803904"/>
            <a:ext cx="614172" cy="384048"/>
          </a:xfrm>
          <a:prstGeom prst="roundRect">
            <a:avLst>
              <a:gd name="adj" fmla="val 50000"/>
            </a:avLst>
          </a:prstGeom>
          <a:solidFill>
            <a:srgbClr val="5A65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383133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1.3%  (156 คน)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245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ทั้งรุ่นยังไม่ครบ 35 วัน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72744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ก.ค. 69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4700016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4700016"/>
            <a:ext cx="91440" cy="384048"/>
          </a:xfrm>
          <a:prstGeom prst="roundRect">
            <a:avLst>
              <a:gd name="adj" fmla="val 50000"/>
            </a:avLst>
          </a:prstGeom>
          <a:solidFill>
            <a:srgbClr val="5A65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47274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0%  (22 คน)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1206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เพิ่งซื้อ ยังตัดสินไม่ได้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71500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รุ่นที่แก่กว่า → อัตราสูงกว่าอย่างเป็นระบบ = ตัวเลขรวมจะค่อย ๆ ขยับขึ้นเองเมื่อเวลาผ่านไป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หลังจ่ายเงินแล้ว ลูกค้าทำอะไรต่อ?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จาก 242 รอบการใช้งานที่จบแล้ว (1 รอบ = token 1 ก้อน ตั้งแต่ได้รับจนหมดอายุ/ซื้อใหม่/เติมรอบใหม่)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5727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→ ซื้อต่อ / จ่ายเพิ่ม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6088" y="15727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→ เลิก ไม่ไปต่อ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6216" y="15727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→ ใช้ต่อรอบถัดไป (ไม่จ่ายเพิ่ม)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0632"/>
            <a:ext cx="1325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 token หมด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993392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03704" y="21396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28346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แฟนตัวจริง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ใช้หมดเกลี้ยง แล้วควักเงินซื้อรอบใหม่ทันที (12 รอบ)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6088" y="1993392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21396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28346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ใช้หมด...แต่ไม่ซื้อต่อ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ชอบใช้ แต่คงรู้สึกไม่คุ้มราคา (14 รอบ)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86216" y="1993392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139696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A5CAA"/>
                </a:solidFill>
                <a:latin typeface="Leelawadee UI"/>
                <a:cs typeface="Leelawadee UI"/>
                <a:ea typeface="Leelawadee U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346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ใช้หมด แล้วรอของฟรี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รอ token เติมรอบเดือนใหม่แทนการจ่าย (5 รอบ)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83479"/>
            <a:ext cx="1325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ใช้ไม่หมด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206240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3704" y="435254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3704" y="5047488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ซื้อต่อทั้งที่ยังเหลือ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ยังใช้ไม่ถึง 1 ใน 3 แต่ก็ยอมจ่ายต่อ (55 รอบ)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6088" y="4206240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1" y="435254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1" y="5047488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ใช้นิดเดียว แล้วหายไปเลย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กลุ่มใหญ่ที่สุด — ใช้เฉลี่ยแค่ 27% แล้วปล่อยหมดอายุ (137 รอบ)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6" y="4206240"/>
            <a:ext cx="3154680" cy="2011680"/>
          </a:xfrm>
          <a:prstGeom prst="roundRect">
            <a:avLst>
              <a:gd name="adj" fmla="val 7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35254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2A5CAA"/>
                </a:solidFill>
                <a:latin typeface="Leelawadee UI"/>
                <a:cs typeface="Leelawadee UI"/>
                <a:ea typeface="Leelawadee UI"/>
              </a:rPr>
              <a:t>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047488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ใช้เรื่อย ๆ ต่อเนื่อง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ใช้พอประมาณ ข้ามรอบเดือนไปเรื่อย ๆ (19 รอบ)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อีก 233 รอบยังใช้งานอยู่ (ยังไม่จบรอบ จึงยังไม่นับ) · เปอร์เซ็นต์ปัดเศษ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ข้อค้นพบ #1 — ปัญหาที่แท้จริง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ลูกค้าไม่ได้หนีเพราะ token หมด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เขาหายไปทั้งที่ยังใช้ไม่ถึง 1 ใน 3 ของที่จ่ายเงินซื้อ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06040"/>
            <a:ext cx="3520440" cy="2011680"/>
          </a:xfrm>
          <a:prstGeom prst="roundRect">
            <a:avLst>
              <a:gd name="adj" fmla="val 7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ของรอบที่จบด้วยการเลิก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8736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ยังมี token เหลือ (137 จาก 151 รอบ)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606040"/>
            <a:ext cx="3520440" cy="2011680"/>
          </a:xfrm>
          <a:prstGeom prst="roundRect">
            <a:avLst>
              <a:gd name="adj" fmla="val 7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852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370332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คือปริมาณที่ใช้ไปโดยเฉลี่ย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408736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ก่อนปล่อยแพ็คหมดอายุ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2606040"/>
            <a:ext cx="3520440" cy="2011680"/>
          </a:xfrm>
          <a:prstGeom prst="roundRect">
            <a:avLst>
              <a:gd name="adj" fmla="val 7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2852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D9482B"/>
                </a:solidFill>
                <a:latin typeface="Leelawadee UI"/>
                <a:cs typeface="Leelawadee UI"/>
                <a:ea typeface="Leelawadee UI"/>
              </a:rPr>
              <a:t>12 ล้าน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370332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token ที่เหลือทิ้งเฉลี่ยต่อรอบ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408736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ตอนแพ็คหมดอายุ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27080" cy="132588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ความหมายต่อธุรกิจ:  รวมแล้ว token ~1,750 ล้าน ถูกริบคืนตอนหมดอายุ — ลูกค้ารู้สึก “จ่ายแล้วไม่ได้ใช้” ซึ่งเป็นเหตุผลชั้นดีที่จะไม่ซื้อรอบถัดไป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สิ่งที่ต้องแก้คือทำให้ลูกค้า “ได้ใช้งานจริง” ไม่ใช่การปรับปริมาณ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ข้อค้นพบ #2 — โอกาสที่ซ่อนอยู่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ส่วนคนที่ใช้งานจริงจัง — ใช้หมดในเวลาแค่ 8 วัน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จากรอบที่มีให้ใช้ ~30 วัน แปลว่าเมื่อไหร่ที่ลูกค้า “ติด” ปริมาณที่ให้ไม่พอ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63240"/>
            <a:ext cx="10332720" cy="457200"/>
          </a:xfrm>
          <a:prstGeom prst="roundRect">
            <a:avLst>
              <a:gd name="adj" fmla="val 50000"/>
            </a:avLst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2755392" cy="457200"/>
          </a:xfrm>
          <a:prstGeom prst="roundRect">
            <a:avLst>
              <a:gd name="adj" fmla="val 50000"/>
            </a:avLst>
          </a:prstGeom>
          <a:solidFill>
            <a:srgbClr val="2E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9359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วันที่ 0 — ได้รับ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35935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วันที่ 30</a:t>
            </a:r>
          </a:p>
        </p:txBody>
      </p:sp>
      <p:sp>
        <p:nvSpPr>
          <p:cNvPr id="8" name="Oval 7"/>
          <p:cNvSpPr/>
          <p:nvPr/>
        </p:nvSpPr>
        <p:spPr>
          <a:xfrm>
            <a:off x="3569208" y="3191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1072" y="249631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วันที่ 8:  ใช้หมด (เฉลี่ย)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5484" y="2953512"/>
            <a:ext cx="64008" cy="67665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37216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วันที่ 12:  จุดที่มักตัดสินใจซื้อรอบใหม่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3520440" cy="1783080"/>
          </a:xfrm>
          <a:prstGeom prst="roundRect">
            <a:avLst>
              <a:gd name="adj" fmla="val 7000"/>
            </a:avLst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12 รอบ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303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ซื้อเพิ่มเองทันทีที่หมด — ไม่ต้องมีใครกระตุ้น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4434840"/>
            <a:ext cx="3520440" cy="1783080"/>
          </a:xfrm>
          <a:prstGeom prst="roundRect">
            <a:avLst>
              <a:gd name="adj" fmla="val 7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46451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2A5CAA"/>
                </a:solidFill>
                <a:latin typeface="Leelawadee UI"/>
                <a:cs typeface="Leelawadee UI"/>
                <a:ea typeface="Leelawadee UI"/>
              </a:rPr>
              <a:t>5 รอบ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52303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เลือก “รอของฟรีเดือนหน้า” แทนการจ่าย — กลุ่มนี้คือเป้า upgrade ที่ชัดที่สุด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4434840"/>
            <a:ext cx="3520440" cy="178308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46451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โอกาส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2303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แจ้งเตือน + ปุ่ม upgrade ตอนใช้ถึง 80% = จับลูกค้าตอนกำลังอยากใช้พอดี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ทำไมต้องสนใจการซื้อซ้ำ — เพราะเงินต่างกัน 2.3 เท่า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120640" cy="411480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รายได้เฉลี่ยต่อคน (ราคาตั้ง)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2E843C"/>
                </a:solidFill>
                <a:latin typeface="Leelawadee UI"/>
                <a:cs typeface="Leelawadee UI"/>
                <a:ea typeface="Leelawadee UI"/>
              </a:rPr>
              <a:t>฿1,303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004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ลูกค้าที่ซื้อซ้ำ (8 คน)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657600"/>
            <a:ext cx="4480560" cy="18288"/>
          </a:xfrm>
          <a:prstGeom prst="rect">
            <a:avLst/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฿561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ลูกค้าซื้อครั้งเดียว (348 คน)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ดึงลูกค้าเดิมให้ซื้อซ้ำ ถูกกว่าหาลูกค้าใหม่เสมอ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1719072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รายได้รวมประมาณ ฿205,700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ต้นทุน AI ที่ให้บริการจริงราว 15% ของรายได้ — กำไรขั้นต้นอยู่ในเกณฑ์ดี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3136392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ทดลองฟรี → ซื้อ แค่ 1.5%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75 จาก 5,015 คน — trial วันนี้ยังไม่ทำหน้าที่ “ขาย” เท่าที่ควร (ใช้เฉลี่ยแค่ 19% ของที่แจก)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4553712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แพ็คเริ่มต้นเล็ก ซื้อซ้ำสูงกว่า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ลูกค้าที่เริ่มด้วย Starter ซื้อซ้ำ 3.3% เทียบกับ Standard 1.8% (ยังเป็นกลุ่มตัวอย่างเล็ก อ่านเป็นแนวโน้ม)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แล้วควรทำอะไรต่อ?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เรียงตามผลลัพธ์ที่คาดว่าจะได้ (impact) — อิงจากข้อมูลจริงข้างต้น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27632"/>
            <a:ext cx="457200" cy="45720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72768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ปลุกให้ลูกค้า “ได้ใช้จริง” ตั้งแต่สัปดาห์แรก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Onboarding + แนะนำ use case + เตือนก่อนหมดอายุ 7 วัน — แก้ตรงกลุ่มใหญ่สุด (57% ที่ใช้นิดเดียวแล้วหาย)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615184"/>
            <a:ext cx="457200" cy="457200"/>
          </a:xfrm>
          <a:prstGeom prst="ellipse">
            <a:avLst/>
          </a:prstGeom>
          <a:solidFill>
            <a:srgbClr val="2E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79191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เสนอ upgrade อัตโนมัติเมื่อใช้ถึง 80%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จับกลุ่มที่ใช้หมดใน 8 วัน ซึ่งพร้อมจ่ายอยู่แล้ว (12 รอบซื้อเองโดยไม่ต้องกระตุ้น)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02736"/>
            <a:ext cx="457200" cy="457200"/>
          </a:xfrm>
          <a:prstGeom prst="ellipse">
            <a:avLst/>
          </a:prstGeom>
          <a:solidFill>
            <a:srgbClr val="2A5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47872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แคมเปญดึงกลับ ภายใน 14 วันหลังหมดอายุ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มี 48 คนเคยกลับมาซื้อเองหลังแพ็คหมด — แปลว่ากลุ่มนี้ดึงกลับได้จริง แค่ต้องมีตัวช่วยกระตุ้น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5902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542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35424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ทบทวนของฟรีใน trial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แจกเยอะแต่คนใช้แค่ 19% และแปลงเป็นลูกค้าแค่ 1.5% — ลองลดปริมาณ/วัน แล้ววัดผลเทียบ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5778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22976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E2761"/>
                </a:solidFill>
                <a:latin typeface="Leelawadee UI"/>
                <a:cs typeface="Leelawadee UI"/>
                <a:ea typeface="Leelawadee UI"/>
              </a:rPr>
              <a:t>ให้ token ที่เหลือ “ทบไปรอบหน้า” บางส่วน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6579"/>
                </a:solidFill>
                <a:latin typeface="Leelawadee UI"/>
                <a:cs typeface="Leelawadee UI"/>
                <a:ea typeface="Leelawadee UI"/>
              </a:rPr>
              <a:t>ลดความรู้สึกจ่ายทิ้ง (ถูกริบไปแล้ว ~1,750 ล้าน token) — friction สำคัญของการตัดสินใจซื้อซ้ำ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1280160"/>
            <a:ext cx="3108960" cy="3108960"/>
          </a:xfrm>
          <a:prstGeom prst="ellipse">
            <a:avLst/>
          </a:prstGeom>
          <a:solidFill>
            <a:srgbClr val="39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ตัวเลขที่ควรตามดูต่อเนื่องทุกเดือน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383280" cy="25146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031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3.37%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44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อัตราซื้อซ้ำของลูกค้า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3101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ที่ครบกำหนดตัดสินใจ (35 วัน+)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7673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EA3D8"/>
                </a:solidFill>
                <a:latin typeface="Leelawadee UI"/>
                <a:cs typeface="Leelawadee UI"/>
                <a:ea typeface="Leelawadee UI"/>
              </a:rPr>
              <a:t>เป้าหมาย: ขยับขึ้นทุกเดือน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83280" cy="25146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1031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944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สัดส่วนคนเลิก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3101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ทั้งที่ยัง token เหลือ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7673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EA3D8"/>
                </a:solidFill>
                <a:latin typeface="Leelawadee UI"/>
                <a:cs typeface="Leelawadee UI"/>
                <a:ea typeface="Leelawadee UI"/>
              </a:rPr>
              <a:t>เป้าหมาย: ลดลง = คนได้ใช้จริงมากขึ้น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383280" cy="25146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1031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944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อัตราแปลง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3101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ทดลองฟรี → จ่ายเงิน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7673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EA3D8"/>
                </a:solidFill>
                <a:latin typeface="Leelawadee UI"/>
                <a:cs typeface="Leelawadee UI"/>
                <a:ea typeface="Leelawadee UI"/>
              </a:rPr>
              <a:t>เป้าหมาย: เพิ่มขึ้นหลังปรับ 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ข้อควรระวังตอนอ่านตัวเลข:  การขายจริงเพิ่งเริ่มเมื่อ เม.ย. 2026 และคนซื้อซ้ำยังมีเพียง 8 คน — ทุกตัวเลขคือ “สัญญาณช่วงต้น” ที่จะนิ่งขึ้นเรื่อย ๆ เมื่อลูกค้าสะสมมากขึ้น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EA3D8"/>
                </a:solidFill>
                <a:latin typeface="Leelawadee UI"/>
                <a:cs typeface="Leelawadee UI"/>
                <a:ea typeface="Leelawadee UI"/>
              </a:rPr>
              <a:t>ข้อมูลจากตาราง B2C.user_token_cycle และ B2C.user_repeat_behavior — คำนวณใหม่อัตโนมัติทุกวัน 06:00 น.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